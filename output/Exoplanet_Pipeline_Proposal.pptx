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Google Sans Medium"/>
      <p:regular r:id="rId17"/>
      <p:bold r:id="rId18"/>
      <p:italic r:id="rId19"/>
      <p:boldItalic r:id="rId20"/>
    </p:embeddedFont>
    <p:embeddedFont>
      <p:font typeface="Google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A30790-6248-4EAF-AA78-28C6D21C88FB}">
  <a:tblStyle styleId="{32A30790-6248-4EAF-AA78-28C6D21C88F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font" Target="fonts/GoogleSansMedium-regular.fntdata"/><Relationship Id="rId18" Type="http://schemas.openxmlformats.org/officeDocument/2006/relationships/font" Target="fonts/GoogleSansMedium-bold.fntdata"/><Relationship Id="rId19" Type="http://schemas.openxmlformats.org/officeDocument/2006/relationships/font" Target="fonts/GoogleSansMedium-italic.fntdata"/><Relationship Id="rId20" Type="http://schemas.openxmlformats.org/officeDocument/2006/relationships/font" Target="fonts/GoogleSansMedium-boldItalic.fntdata"/><Relationship Id="rId21" Type="http://schemas.openxmlformats.org/officeDocument/2006/relationships/font" Target="fonts/GoogleSans-regular.fntdata"/><Relationship Id="rId22" Type="http://schemas.openxmlformats.org/officeDocument/2006/relationships/font" Target="fonts/GoogleSans-bold.fntdata"/><Relationship Id="rId23" Type="http://schemas.openxmlformats.org/officeDocument/2006/relationships/font" Target="fonts/GoogleSans-italic.fntdata"/><Relationship Id="rId24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3535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4675" y="33193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>
                <a:solidFill>
                  <a:srgbClr val="333333"/>
                </a:solidFill>
                <a:latin typeface="Calibri"/>
              </a:defRPr>
            </a:pPr>
            <a:r>
              <a:t>Team Name : AstroSage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8730" y="426921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200" b="0">
                <a:solidFill>
                  <a:srgbClr val="555555"/>
                </a:solidFill>
                <a:latin typeface="Calibri"/>
              </a:defRPr>
            </a:pPr>
            <a:r>
              <a:t>Problem Statement : Challenge 07 — Exoplanet Transit Detection from TESS Light Curves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400" b="0">
                <a:solidFill>
                  <a:srgbClr val="333333"/>
                </a:solidFill>
                <a:latin typeface="Calibri"/>
              </a:defRPr>
            </a:pPr>
            <a:r>
              <a:t>Team Leader Name : [Your Name]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370500" y="7021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GB" sz="205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Members</a:t>
            </a:r>
            <a:endParaRPr b="0" i="0" sz="205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952500" y="132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{32A30790-6248-4EAF-AA78-28C6D21C88FB}</a:tableStyleId>
              </a:tblPr>
              <a:tblGrid>
                <a:gridCol w="3619500"/>
                <a:gridCol w="3619500"/>
              </a:tblGrid>
              <a:tr h="179497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Team Leader: [Name]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ML Engineer — Deep Learning, Mamba SSM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Member 1: [Name]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Engineer — TESS, Lightkurve, Signal Processing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497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Member 2: [Name]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Full-Stack — Streamlit Dashboard, Python Pipeline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Member 3: [Name]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Domain Expert — Exoplanet Science, Vetting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11700" y="863550"/>
            <a:ext cx="75693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54"/>
              <a:buFont typeface="Arial"/>
              <a:buNone/>
              <a:defRPr sz="2000" b="1">
                <a:solidFill>
                  <a:srgbClr val="333333"/>
                </a:solidFill>
                <a:latin typeface="Calibri"/>
              </a:defRPr>
            </a:pPr>
            <a:r>
              <a:t>How It Is Different &amp; USP</a:t>
            </a:r>
            <a:endParaRPr b="0" i="0" sz="645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algn="l">
              <a:spcAft>
                <a:spcPts val="3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Fully explainable pipeline — no black box: every stage produces auditable intermediate artifacts (BLS periodogram, per-transit depths, 17-feature vector)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Dual-classification: rule-based vetting (physically grounded) + Random Forest (data-driven) run in parallel — disagreement triggers human review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Phase 2 ready: Mamba State Space Model (O(n) complexity) planned when ISRO's curated dataset becomes available — scales to million-star surveys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End-to-end in Python: synthetic data generation → detection → dashboard → export in a single uv-managed environment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Validated: 70.7% held-out accuracy, F1=0.91 for eclipsing binaries on synthetic ground truth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886600"/>
                </a:solidFill>
                <a:latin typeface="Calibri"/>
              </a:defRPr>
            </a:pPr>
            <a:r>
              <a:t>Current Status: Phase 1 (built + validated) · Phase 2 (Mamba SSM) ready when labeled data arrives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600"/>
              <a:buFont typeface="Arial"/>
              <a:buNone/>
              <a:defRPr sz="2000" b="1">
                <a:solidFill>
                  <a:srgbClr val="333333"/>
                </a:solidFill>
                <a:latin typeface="Calibri"/>
              </a:defRPr>
            </a:pPr>
            <a:r>
              <a:t>Pipeline Features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algn="l">
              <a:spcAft>
                <a:spcPts val="3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1. TESS Data Ingestion — lightkurve MAST queries + synthetic generator with configurable transit/red-noise/white-noise parameters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2. Intelligent Preprocessing — 5-sigma clipping + Savitzky-Golay detrending (0.5d window) removes stellar variability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3. BLS Period Search — 5000 trial periods (0.5-15 d), 20 durations (0.5-8 h), SNR-based peak selection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4. 17-Dimensional Feature Vector — depth, duration, SNR, odd-even mismatch, secondary eclipse, shape, noise, red-noise ratio, entropy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5. Dual Classifier — rule-based (3 vetting tests) + Random Forest (300 trees, 4 classes) running in parallel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6. Scientific Validation — duty cycle &lt;20%, depth &lt;10%, 2+ transits, confidence score (0-1) with breakdown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7. Interactive Dashboard — Streamlit app, 5 tabs, diagnostic 2x2 figures, JSON/PNG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sz="16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3" name="Picture 82" descr="flow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00" y="200000"/>
            <a:ext cx="8400000" cy="47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89" name="Picture 88" descr="dashboard_m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00" y="200000"/>
            <a:ext cx="8400000" cy="47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95" name="Picture 94" descr="arch_classif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00" y="200000"/>
            <a:ext cx="8400000" cy="47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101" name="Picture 100" descr="tech_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00" y="200000"/>
            <a:ext cx="8400000" cy="47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600"/>
              <a:buFont typeface="Arial"/>
              <a:buNone/>
              <a:defRPr sz="2000" b="1">
                <a:solidFill>
                  <a:srgbClr val="333333"/>
                </a:solidFill>
                <a:latin typeface="Calibri"/>
              </a:defRPr>
            </a:pPr>
            <a:r>
              <a:t>Implementation Cost Estimate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algn="l">
              <a:spcAft>
                <a:spcPts val="3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400" b="0">
                <a:solidFill>
                  <a:srgbClr val="008000"/>
                </a:solidFill>
                <a:latin typeface="Calibri"/>
              </a:defRPr>
            </a:pPr>
            <a:r>
              <a:t>All tools are 100% open-source — no license costs.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Infrastructure (30-hour hackathon):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1 x GPU (T4 or better)  ~$0.50-1.00/hr  →  ~$30 total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1 x CPU for Streamlit dashboard  →  included or free tier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MAST data access  →  free (public archive)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Personnel — 4 members x 30 hours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ML / Pipeline development  —  2 members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Dashboard &amp; UI  —  1 member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Documentation &amp; presentation  —  1 member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Total estimated cost: ~$30-50 (GPU compute only)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TextBox 111"/>
          <p:cNvSpPr txBox="1"/>
          <p:nvPr/>
        </p:nvSpPr>
        <p:spPr>
          <a:xfrm>
            <a:off x="400000" y="1200000"/>
            <a:ext cx="83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AI-Enabled Exoplanet Transit Detection Pipeline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DDDDDD"/>
                </a:solidFill>
                <a:latin typeface="Calibri"/>
              </a:defRPr>
            </a:pPr>
            <a:r>
              <a:t>Bharatiya Antariksh Hackathon 2026 — Challenge 07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DDDDDD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Stack: Python · lightkurve · astropy · scikit-learn · Streamlit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Mamba SSM (Phase 2) · uv · matplotlib · pandas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