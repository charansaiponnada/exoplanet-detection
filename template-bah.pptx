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Google Sans Medium"/>
      <p:regular r:id="rId17"/>
      <p:bold r:id="rId18"/>
      <p:italic r:id="rId19"/>
      <p:boldItalic r:id="rId20"/>
    </p:embeddedFont>
    <p:embeddedFont>
      <p:font typeface="Google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2A30790-6248-4EAF-AA78-28C6D21C88FB}">
  <a:tblStyle styleId="{32A30790-6248-4EAF-AA78-28C6D21C88F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oogleSansMedium-boldItalic.fntdata"/><Relationship Id="rId11" Type="http://schemas.openxmlformats.org/officeDocument/2006/relationships/slide" Target="slides/slide5.xml"/><Relationship Id="rId22" Type="http://schemas.openxmlformats.org/officeDocument/2006/relationships/font" Target="fonts/GoogleSans-bold.fntdata"/><Relationship Id="rId10" Type="http://schemas.openxmlformats.org/officeDocument/2006/relationships/slide" Target="slides/slide4.xml"/><Relationship Id="rId21" Type="http://schemas.openxmlformats.org/officeDocument/2006/relationships/font" Target="fonts/GoogleSans-regular.fntdata"/><Relationship Id="rId13" Type="http://schemas.openxmlformats.org/officeDocument/2006/relationships/slide" Target="slides/slide7.xml"/><Relationship Id="rId24" Type="http://schemas.openxmlformats.org/officeDocument/2006/relationships/font" Target="fonts/GoogleSans-boldItalic.fntdata"/><Relationship Id="rId12" Type="http://schemas.openxmlformats.org/officeDocument/2006/relationships/slide" Target="slides/slide6.xml"/><Relationship Id="rId23" Type="http://schemas.openxmlformats.org/officeDocument/2006/relationships/font" Target="fonts/Google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GoogleSansMedium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GoogleSansMedium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GoogleSansMedium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3535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294675" y="331937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202729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Team Name :</a:t>
            </a:r>
            <a:endParaRPr b="0" i="0" sz="1600" u="none" cap="none" strike="noStrike">
              <a:solidFill>
                <a:srgbClr val="202729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28730" y="4269210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202729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Problem Statement :</a:t>
            </a:r>
            <a:endParaRPr b="0" i="0" sz="1600" u="none" cap="none" strike="noStrike">
              <a:solidFill>
                <a:srgbClr val="202729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10163" y="379413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202729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Team Leader Name :</a:t>
            </a:r>
            <a:endParaRPr b="0" i="0" sz="1600" u="none" cap="none" strike="noStrike">
              <a:solidFill>
                <a:srgbClr val="202729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370500" y="702175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b="0" i="0" lang="en-GB" sz="205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Team Members</a:t>
            </a:r>
            <a:endParaRPr b="0" i="0" sz="205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graphicFrame>
        <p:nvGraphicFramePr>
          <p:cNvPr id="64" name="Google Shape;64;p14"/>
          <p:cNvGraphicFramePr/>
          <p:nvPr/>
        </p:nvGraphicFramePr>
        <p:xfrm>
          <a:off x="952500" y="1329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{32A30790-6248-4EAF-AA78-28C6D21C88FB}</a:tableStyleId>
              </a:tblPr>
              <a:tblGrid>
                <a:gridCol w="3619500"/>
                <a:gridCol w="3619500"/>
              </a:tblGrid>
              <a:tr h="1794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Team Leader: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Name: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College: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Team Member-1: 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Name: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College: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94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Team Member-2: 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Name: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College: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Team Member-3: 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Name: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College: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311700" y="863550"/>
            <a:ext cx="75693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4"/>
              <a:buFont typeface="Arial"/>
              <a:buNone/>
            </a:pPr>
            <a:r>
              <a:rPr b="0" i="0" lang="en-GB" sz="645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  Opportunity should be able to explain the following:</a:t>
            </a:r>
            <a:endParaRPr b="0" i="0" sz="645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-331025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Google Sans"/>
              <a:buChar char="●"/>
            </a:pPr>
            <a:r>
              <a:rPr b="0" i="0" lang="en-GB" sz="6450" u="none" cap="none" strike="noStrike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b="0" i="0" sz="6450" u="none" cap="none" strike="noStrike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3102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Google Sans"/>
              <a:buChar char="●"/>
            </a:pPr>
            <a:r>
              <a:rPr b="0" i="0" lang="en-GB" sz="6450" u="none" cap="none" strike="noStrike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problem?</a:t>
            </a:r>
            <a:endParaRPr b="0" i="0" sz="6450" u="none" cap="none" strike="noStrike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3102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Google Sans"/>
              <a:buChar char="●"/>
            </a:pPr>
            <a:r>
              <a:rPr b="0" i="0" lang="en-GB" sz="6450" u="none" cap="none" strike="noStrike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  <a:endParaRPr b="0" i="0" sz="6450" u="none" cap="none" strike="noStrike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ct val="61666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311700" y="863550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List of features offered by the solution</a:t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It is always better to add a few visual representations (drawings/sketches/illustrations etc.) to your presentation, it adds to the power through which it reaches the audience.</a:t>
            </a:r>
            <a:endParaRPr b="0" i="0" sz="1600" u="none" cap="none" strike="noStrike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7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 txBox="1"/>
          <p:nvPr/>
        </p:nvSpPr>
        <p:spPr>
          <a:xfrm>
            <a:off x="311700" y="863550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Process flow diagram or Use-case diagram</a:t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Add a flow diagram or a use case diagram or an architecture diagram.</a:t>
            </a:r>
            <a:endParaRPr b="0" i="0" sz="1600" u="none" cap="none" strike="noStrike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8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 txBox="1"/>
          <p:nvPr/>
        </p:nvSpPr>
        <p:spPr>
          <a:xfrm>
            <a:off x="311700" y="863550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Wireframes/Mock diagrams of the proposed solution (optional)</a:t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9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9"/>
          <p:cNvSpPr txBox="1"/>
          <p:nvPr/>
        </p:nvSpPr>
        <p:spPr>
          <a:xfrm>
            <a:off x="311700" y="863550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Architecture diagram of the proposed solution</a:t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0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0"/>
          <p:cNvSpPr txBox="1"/>
          <p:nvPr/>
        </p:nvSpPr>
        <p:spPr>
          <a:xfrm>
            <a:off x="311700" y="863550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Technologies to be used in the solution:</a:t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1" title="wswsws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1"/>
          <p:cNvSpPr txBox="1"/>
          <p:nvPr/>
        </p:nvSpPr>
        <p:spPr>
          <a:xfrm>
            <a:off x="311700" y="863550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Estimated implementation cost (optional):</a:t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2" title="wswswswdwdww33d3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